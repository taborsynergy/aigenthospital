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62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49640" y="457200"/>
            <a:ext cx="3154680" cy="502920"/>
          </a:xfrm>
          <a:prstGeom prst="roundRect">
            <a:avLst/>
          </a:prstGeom>
          <a:solidFill>
            <a:srgbClr val="0F1F3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49640" y="54864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Segoe UI"/>
              </a:rPr>
              <a:t>Powered by Claude Sonnet 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Aria AI Front 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514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14B8A6"/>
                </a:solidFill>
                <a:latin typeface="Segoe UI"/>
              </a:rPr>
              <a:t>The 24/7 AI Receptionist for Medical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200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Aria answers every patient call and message - books appointments, screens questions,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verifies insurance, and safely triages emergencies - 24 hours a day, with no app and no hold music.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63440"/>
            <a:ext cx="1874519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45736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Books appointments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4663440"/>
            <a:ext cx="1778507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4745736"/>
            <a:ext cx="177850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Triage-safe (911)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5172" y="4663440"/>
            <a:ext cx="1202436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5172" y="4745736"/>
            <a:ext cx="12024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HIPAA-aware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1490472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4745736"/>
            <a:ext cx="1490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24/7, no login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27264" y="4663440"/>
            <a:ext cx="1490472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4" y="4745736"/>
            <a:ext cx="1490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Live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486400"/>
            <a:ext cx="10927080" cy="45720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59552"/>
            <a:ext cx="10927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BD5E1"/>
                </a:solidFill>
                <a:latin typeface="Segoe UI"/>
              </a:rPr>
              <a:t>Built secure:   HIPAA-aware    |    Encrypted in transit (TLS)    |    Row-level database security    |    Audit-logged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44768"/>
            <a:ext cx="10927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Segoe UI"/>
              </a:rPr>
              <a:t>Tabor Synergy</a:t>
            </a:r>
            <a:r>
              <a:rPr sz="1100" b="0">
                <a:solidFill>
                  <a:srgbClr val="64748B"/>
                </a:solidFill>
                <a:latin typeface="Segoe UI"/>
              </a:rPr>
              <a:t>    .    Powered by Claude Sonnet 4.6 (Anthropic)    .    aifrontdesk.taborsynergy.com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What Aria Does - for Every Patient, Every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544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24/7 AI Receptionist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1488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Greets patients, answers questions, and handles intake any time - nights, weekends, holidays.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18211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No missed calls, no voicemail tag, no overtime.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71600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371600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Instant Appointment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488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Patients book in about 90 seconds via a link or QR code - no app, no login.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18211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Front desk freed from 50+ scheduling calls a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371600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47304" y="1371600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15544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Emergency 911 Escalation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488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Detects emergencies like chest pain and instantly tells the patient to call 911 + alerts staff.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8211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Patient safety + liability protection, built 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05072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005072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18795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HIPAA-Aware 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4782312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Won't diagnose, won't reveal another person's records, resists manipulation.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5815584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Compliant by design; protects patient privacy.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4005072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25112" y="4005072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18795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Insurance Q&amp;A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7" y="4782312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Answers 'do you take my insurance?' from the clinic's verified accepted-plans list.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7" y="5815584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Fewer dead-end calls; patients self-qualify.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7304" y="4005072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47304" y="4005072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418795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Live Dashboard &amp;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782312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Staff see every appointment, no-show rates, busy times, and trends in real 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815584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Run the practice on data, not guesswork.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11201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Enterprise-grade &amp; HIPAA-aware   .   Encrypted (TLS)   .   Row-Level DB security   .   Audit-logged   .   Powered by Claude Sonnet 4.6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Simple Plans That Grow With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6576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657600" cy="82296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F1F35"/>
                </a:solidFill>
                <a:latin typeface="Segoe UI"/>
              </a:rPr>
              <a:t>$297</a:t>
            </a:r>
            <a:r>
              <a:rPr sz="1400" b="0">
                <a:solidFill>
                  <a:srgbClr val="64748B"/>
                </a:solidFill>
                <a:latin typeface="Segoe UI"/>
              </a:rPr>
              <a:t>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Solo practice, getting 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31546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AI receptionist + booking (core)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300 conversations / month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1 location, 1 provider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Emergency triage + HIPAA safety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Insurance Q&amp;A + live dashboard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Email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188720"/>
            <a:ext cx="3657600" cy="5212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188720"/>
            <a:ext cx="3657600" cy="8229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1600200" cy="38404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344168"/>
            <a:ext cx="1600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MOST POPULAR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3716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1488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F1F35"/>
                </a:solidFill>
                <a:latin typeface="Segoe UI"/>
              </a:rPr>
              <a:t>$597</a:t>
            </a:r>
            <a:r>
              <a:rPr sz="1400" b="0">
                <a:solidFill>
                  <a:srgbClr val="64748B"/>
                </a:solidFill>
                <a:latin typeface="Segoe UI"/>
              </a:rPr>
              <a:t>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2971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2-5 doctor group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3474720"/>
            <a:ext cx="31546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1">
                <a:solidFill>
                  <a:srgbClr val="334155"/>
                </a:solidFill>
                <a:latin typeface="Segoe UI"/>
              </a:rPr>
              <a:t>Everything in Starter, plus: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1,000 conversations / month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Up to 3 locations, 5 providers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Custom assistant name + website widget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Custom insurance knowledge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Email reminders + recall campaigns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Monthly reports, priority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1325880"/>
            <a:ext cx="36576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47304" y="1325880"/>
            <a:ext cx="3657600" cy="82296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15087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F1F35"/>
                </a:solidFill>
                <a:latin typeface="Segoe UI"/>
              </a:rPr>
              <a:t>$997</a:t>
            </a:r>
            <a:r>
              <a:rPr sz="1400" b="0">
                <a:solidFill>
                  <a:srgbClr val="64748B"/>
                </a:solidFill>
                <a:latin typeface="Segoe UI"/>
              </a:rPr>
              <a:t>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Multi-location / white-label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3611880"/>
            <a:ext cx="31546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1">
                <a:solidFill>
                  <a:srgbClr val="334155"/>
                </a:solidFill>
                <a:latin typeface="Segoe UI"/>
              </a:rPr>
              <a:t>Everything in Growth, plus: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Unlimited conversations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Unlimited locations &amp; providers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White-label + custom domain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EHR integration (Epic/Cerner)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Custom AI training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Dedicated manager, 24/7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All delivery is by email — no carrier registration, no per-clinic phone numbers, live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Why Practices Choose 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Segoe UI"/>
              </a:rPr>
              <a:t>HIPAA-aware   .   Encrypted in transit &amp; at rest   .   Row-Level DB security   .   Audit-logged   .   Powered by Claude Sonnet 4.6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97480" cy="1874519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4B8A6"/>
                </a:solidFill>
                <a:latin typeface="Segoe UI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1401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fewer no-shows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980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AFBED0"/>
                </a:solidFill>
                <a:latin typeface="Segoe UI"/>
              </a:rPr>
              <a:t>Automated reminders bring patients 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1417320"/>
            <a:ext cx="2697480" cy="1874519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645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4B8A6"/>
                </a:solidFill>
                <a:latin typeface="Segoe UI"/>
              </a:rPr>
              <a:t>3-4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41401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saved per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7980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AFBED0"/>
                </a:solidFill>
                <a:latin typeface="Segoe UI"/>
              </a:rPr>
              <a:t>Staff stop fielding scheduling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28816" y="1417320"/>
            <a:ext cx="2697480" cy="1874519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1645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4B8A6"/>
                </a:solidFill>
                <a:latin typeface="Segoe UI"/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41401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always-on 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27980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AFBED0"/>
                </a:solidFill>
                <a:latin typeface="Segoe UI"/>
              </a:rPr>
              <a:t>Capture patients nights &amp; weekends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3184" y="1417320"/>
            <a:ext cx="2697480" cy="1874519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3184" y="1645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4B8A6"/>
                </a:solidFill>
                <a:latin typeface="Segoe UI"/>
              </a:rPr>
              <a:t>15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241401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to go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3" y="27980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AFBED0"/>
                </a:solidFill>
                <a:latin typeface="Segoe UI"/>
              </a:rPr>
              <a:t>$0 setup - we handle everything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11880"/>
            <a:ext cx="10908792" cy="1051560"/>
          </a:xfrm>
          <a:prstGeom prst="roundRect">
            <a:avLst/>
          </a:prstGeom>
          <a:solidFill>
            <a:srgbClr val="162C4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11880"/>
            <a:ext cx="104241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 typical solo practice nets about </a:t>
            </a:r>
            <a:r>
              <a:rPr sz="1600" b="1">
                <a:solidFill>
                  <a:srgbClr val="14B8A6"/>
                </a:solidFill>
                <a:latin typeface="Segoe UI"/>
              </a:rPr>
              <a:t>$7,000 / month</a:t>
            </a:r>
            <a:r>
              <a:rPr sz="1600" b="1">
                <a:solidFill>
                  <a:srgbClr val="FFFFFF"/>
                </a:solidFill>
                <a:latin typeface="Segoe UI"/>
              </a:rPr>
              <a:t> in saved staff time + recovered no-shows - vs. the plan cost.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83480"/>
            <a:ext cx="10908792" cy="12344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57216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Start a 2-week free trial - on your own branded patient link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3328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No card. No setup fee. Live the same day.     </a:t>
            </a:r>
            <a:r>
              <a:rPr sz="1300" b="1">
                <a:solidFill>
                  <a:srgbClr val="FFFFFF"/>
                </a:solidFill>
                <a:latin typeface="Segoe UI"/>
              </a:rPr>
              <a:t>write2dinakar10@gmail.com   |   aifrontdesk.taborsynergy.com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STARTER ($297/mo) - Feature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CBD5E1"/>
                </a:solidFill>
                <a:latin typeface="Segoe UI"/>
              </a:rPr>
              <a:t>Solo practice. Every line below is what the customer actually gets, with build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92608"/>
            <a:ext cx="20574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INTERNAL - HIDE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70432"/>
            <a:ext cx="77724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1328" y="1170432"/>
            <a:ext cx="77724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1170432"/>
            <a:ext cx="77724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27632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728216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4193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62763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AI receptionist + booking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Aria chats, screens questions, and books appointments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203703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1742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10312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Hosted patient chat link + QR   </a:t>
            </a:r>
            <a:r>
              <a:rPr sz="1100" b="0">
                <a:solidFill>
                  <a:srgbClr val="64748B"/>
                </a:solidFill>
                <a:latin typeface="Segoe UI"/>
              </a:rPr>
              <a:t>No-login page patients open via link or QR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78608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3504" y="267919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69290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257860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300 conversations / month   </a:t>
            </a:r>
            <a:r>
              <a:rPr sz="1100" b="0">
                <a:solidFill>
                  <a:srgbClr val="64748B"/>
                </a:solidFill>
                <a:latin typeface="Segoe UI"/>
              </a:rPr>
              <a:t>Usage cap enforced; upgrade prompt beyond the limit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3154679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168396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054096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1 location / 1 provider   </a:t>
            </a:r>
            <a:r>
              <a:rPr sz="1100" b="0">
                <a:solidFill>
                  <a:srgbClr val="64748B"/>
                </a:solidFill>
                <a:latin typeface="Segoe UI"/>
              </a:rPr>
              <a:t>Solo-practice limits enforced by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29584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" y="3630168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643884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529584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Emergency 911 escalation   </a:t>
            </a:r>
            <a:r>
              <a:rPr sz="1100" b="0">
                <a:solidFill>
                  <a:srgbClr val="64748B"/>
                </a:solidFill>
                <a:latin typeface="Segoe UI"/>
              </a:rPr>
              <a:t>Detects emergencies, tells patient to call 911, alerts staff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4105656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411937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00507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HIPAA guardrails   </a:t>
            </a:r>
            <a:r>
              <a:rPr sz="1100" b="0">
                <a:solidFill>
                  <a:srgbClr val="64748B"/>
                </a:solidFill>
                <a:latin typeface="Segoe UI"/>
              </a:rPr>
              <a:t>No diagnosis, no third-party records, prompt-injection safe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480560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" y="4581144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459486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48056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Insurance Q&amp;A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Answers 'do you take X?' from the accepted-plans list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505663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507034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95604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Live dashboard + analytics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Appointments, no-show rate, busy times, trends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431536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" y="5532120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5545836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1640" y="5431536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Booking confirmation email   </a:t>
            </a:r>
            <a:r>
              <a:rPr sz="1100" b="0">
                <a:solidFill>
                  <a:srgbClr val="64748B"/>
                </a:solidFill>
                <a:latin typeface="Segoe UI"/>
              </a:rPr>
              <a:t>Emailed to patient on booking - LIVE (verified end-to-end via SendGrid)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" y="6007608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" y="6021324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" y="5907024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Email support   </a:t>
            </a:r>
            <a:r>
              <a:rPr sz="1100" b="0">
                <a:solidFill>
                  <a:srgbClr val="64748B"/>
                </a:solidFill>
                <a:latin typeface="Segoe UI"/>
              </a:rPr>
              <a:t>Standard support (operational, not code)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GROWTH ($597/mo) - Feature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CBD5E1"/>
                </a:solidFill>
                <a:latin typeface="Segoe UI"/>
              </a:rPr>
              <a:t>2-5 doctor group practice. Everything in Starter, PLUS the items below.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92608"/>
            <a:ext cx="20574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INTERNAL - HIDE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70432"/>
            <a:ext cx="77724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1328" y="1170432"/>
            <a:ext cx="77724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1170432"/>
            <a:ext cx="77724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27632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728216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4193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62763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1,000 conversations / month   </a:t>
            </a:r>
            <a:r>
              <a:rPr sz="1100" b="0">
                <a:solidFill>
                  <a:srgbClr val="64748B"/>
                </a:solidFill>
                <a:latin typeface="Segoe UI"/>
              </a:rPr>
              <a:t>3x Starter volume; cap enforced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203703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1742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10312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Up to 3 locations   </a:t>
            </a:r>
            <a:r>
              <a:rPr sz="1100" b="0">
                <a:solidFill>
                  <a:srgbClr val="64748B"/>
                </a:solidFill>
                <a:latin typeface="Segoe UI"/>
              </a:rPr>
              <a:t>Each office: own address, hours, providers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78608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3504" y="267919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69290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257860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Up to 5 providers   </a:t>
            </a:r>
            <a:r>
              <a:rPr sz="1100" b="0">
                <a:solidFill>
                  <a:srgbClr val="64748B"/>
                </a:solidFill>
                <a:latin typeface="Segoe UI"/>
              </a:rPr>
              <a:t>Group practice; AI books with named doctors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3154679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168396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054096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Custom assistant name   </a:t>
            </a:r>
            <a:r>
              <a:rPr sz="1100" b="0">
                <a:solidFill>
                  <a:srgbClr val="64748B"/>
                </a:solidFill>
                <a:latin typeface="Segoe UI"/>
              </a:rPr>
              <a:t>Rename 'Aria' to the clinic's own assistant name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29584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" y="3630168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643884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529584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Website embed widget   </a:t>
            </a:r>
            <a:r>
              <a:rPr sz="1100" b="0">
                <a:solidFill>
                  <a:srgbClr val="64748B"/>
                </a:solidFill>
                <a:latin typeface="Segoe UI"/>
              </a:rPr>
              <a:t>Branded booking chat embedded on the clinic's own site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4105656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411937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00507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Custom insurance knowledge   </a:t>
            </a:r>
            <a:r>
              <a:rPr sz="1100" b="0">
                <a:solidFill>
                  <a:srgbClr val="64748B"/>
                </a:solidFill>
                <a:latin typeface="Segoe UI"/>
              </a:rPr>
              <a:t>Teach accepted plans + coverage detail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480560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" y="4581144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459486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48056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Monthly performance report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Auto monthly summary generated from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505663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507034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95604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Automated email reminders (72h/24h)   </a:t>
            </a:r>
            <a:r>
              <a:rPr sz="1100" b="0">
                <a:solidFill>
                  <a:srgbClr val="64748B"/>
                </a:solidFill>
                <a:latin typeface="Segoe UI"/>
              </a:rPr>
              <a:t>Emailed to patient before the visit; cuts no-shows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431536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" y="5532120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5545836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1640" y="5431536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Patient recall campaigns (email)   </a:t>
            </a:r>
            <a:r>
              <a:rPr sz="1100" b="0">
                <a:solidFill>
                  <a:srgbClr val="64748B"/>
                </a:solidFill>
                <a:latin typeface="Segoe UI"/>
              </a:rPr>
              <a:t>Win back lapsed patients via email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" y="6007608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" y="6021324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" y="5907024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Priority support   </a:t>
            </a:r>
            <a:r>
              <a:rPr sz="1100" b="0">
                <a:solidFill>
                  <a:srgbClr val="64748B"/>
                </a:solidFill>
                <a:latin typeface="Segoe UI"/>
              </a:rPr>
              <a:t>Faster response (operational)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ENTERPRISE ($997/mo) / White-Label - Feature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CBD5E1"/>
                </a:solidFill>
                <a:latin typeface="Segoe UI"/>
              </a:rPr>
              <a:t>Multi-location, white-labeled. Everything in Growth, PLUS the items below.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92608"/>
            <a:ext cx="20574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INTERNAL - HIDE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70432"/>
            <a:ext cx="77724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1328" y="1170432"/>
            <a:ext cx="77724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1170432"/>
            <a:ext cx="77724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27632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728216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4193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62763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Unlimited conversations   </a:t>
            </a:r>
            <a:r>
              <a:rPr sz="1100" b="0">
                <a:solidFill>
                  <a:srgbClr val="64748B"/>
                </a:solidFill>
                <a:latin typeface="Segoe UI"/>
              </a:rPr>
              <a:t>No monthly cap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203703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1742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10312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Unlimited locations &amp; providers   </a:t>
            </a:r>
            <a:r>
              <a:rPr sz="1100" b="0">
                <a:solidFill>
                  <a:srgbClr val="64748B"/>
                </a:solidFill>
                <a:latin typeface="Segoe UI"/>
              </a:rPr>
              <a:t>No limits enforced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78608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3504" y="2679192"/>
            <a:ext cx="96012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69290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257860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Multi-location routing   </a:t>
            </a:r>
            <a:r>
              <a:rPr sz="1100" b="0">
                <a:solidFill>
                  <a:srgbClr val="64748B"/>
                </a:solidFill>
                <a:latin typeface="Segoe UI"/>
              </a:rPr>
              <a:t>Routes patient to the right office by ZIP / 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3154679"/>
            <a:ext cx="96012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168396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054096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Custom AI training   </a:t>
            </a:r>
            <a:r>
              <a:rPr sz="1100" b="0">
                <a:solidFill>
                  <a:srgbClr val="64748B"/>
                </a:solidFill>
                <a:latin typeface="Segoe UI"/>
              </a:rPr>
              <a:t>Teach the AI clinic-specific procedures, policies, FAQs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29584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" y="3630168"/>
            <a:ext cx="96012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643884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529584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White-label branding   </a:t>
            </a:r>
            <a:r>
              <a:rPr sz="1100" b="0">
                <a:solidFill>
                  <a:srgbClr val="64748B"/>
                </a:solidFill>
                <a:latin typeface="Segoe UI"/>
              </a:rPr>
              <a:t>Clinic logo/colors, remove 'Tabor' branding, reseller mode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4105656"/>
            <a:ext cx="96012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411937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00507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Custom domain   </a:t>
            </a:r>
            <a:r>
              <a:rPr sz="1100" b="0">
                <a:solidFill>
                  <a:srgbClr val="64748B"/>
                </a:solidFill>
                <a:latin typeface="Segoe UI"/>
              </a:rPr>
              <a:t>clinic.yourdomain.com - needs per-clinic DNS + SSL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480560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" y="4581144"/>
            <a:ext cx="96012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459486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48056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EHR / EMR integration (Ph 1-4) — Chart read + note sync   </a:t>
            </a:r>
            <a:r>
              <a:rPr sz="1100" b="0">
                <a:solidFill>
                  <a:srgbClr val="64748B"/>
                </a:solidFill>
                <a:latin typeface="Segoe UI"/>
              </a:rPr>
              <a:t>Sync to Epic/Cerner/Athena - real connectors not built yet (skeleton only)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505663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507034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95604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Dedicated manager + 24/7 support   </a:t>
            </a:r>
            <a:r>
              <a:rPr sz="1100" b="0">
                <a:solidFill>
                  <a:srgbClr val="64748B"/>
                </a:solidFill>
                <a:latin typeface="Segoe UI"/>
              </a:rPr>
              <a:t>White-glove (operational)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PENDING / ROADMAP - what's left to finish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CBD5E1"/>
                </a:solidFill>
                <a:latin typeface="Segoe UI"/>
              </a:rPr>
              <a:t>Consolidated to-do. Everything else is live on Supabase production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92608"/>
            <a:ext cx="20574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2057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INTERNAL - HIDE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70432"/>
            <a:ext cx="77724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81328" y="1170432"/>
            <a:ext cx="777240" cy="2743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1170432"/>
            <a:ext cx="77724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1197864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27632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728216"/>
            <a:ext cx="96012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4193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62763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Reminders/recall auto-fire   </a:t>
            </a:r>
            <a:r>
              <a:rPr sz="1100" b="0">
                <a:solidFill>
                  <a:srgbClr val="64748B"/>
                </a:solidFill>
                <a:latin typeface="Segoe UI"/>
              </a:rPr>
              <a:t>Email send works; set an hourly Render cron -&gt; /reminders/trigger &amp; /api/recall/trigger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203703"/>
            <a:ext cx="96012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1742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10312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Recall email unsubscribe link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Add an unsubscribe link + endpoint before sending real recall email (CAN-SPAM)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78608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3504" y="267919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69290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257860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Email delivery (incl. booking confirmation)   </a:t>
            </a:r>
            <a:r>
              <a:rPr sz="1100" b="0">
                <a:solidFill>
                  <a:srgbClr val="64748B"/>
                </a:solidFill>
                <a:latin typeface="Segoe UI"/>
              </a:rPr>
              <a:t>LIVE - SendGrid verified; signup + patient booking-confirmation emails send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3154679"/>
            <a:ext cx="96012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168396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054096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EHR integration   </a:t>
            </a:r>
            <a:r>
              <a:rPr sz="1100" b="0">
                <a:solidFill>
                  <a:srgbClr val="64748B"/>
                </a:solidFill>
                <a:latin typeface="Segoe UI"/>
              </a:rPr>
              <a:t>Build real per-EHR connectors - currently a config skeleton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29584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" y="3630168"/>
            <a:ext cx="960120" cy="274320"/>
          </a:xfrm>
          <a:prstGeom prst="roundRect">
            <a:avLst/>
          </a:prstGeom>
          <a:solidFill>
            <a:srgbClr val="F1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3643884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529584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White-label custom domain   </a:t>
            </a:r>
            <a:r>
              <a:rPr sz="1100" b="0">
                <a:solidFill>
                  <a:srgbClr val="64748B"/>
                </a:solidFill>
                <a:latin typeface="Segoe UI"/>
              </a:rPr>
              <a:t>Per-clinic DNS + SSL wiring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4105656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4119372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005072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Core platform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AI agent, booking, safety, dashboard, plan gating - all live &amp; tested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480560"/>
            <a:ext cx="11201400" cy="438912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" y="4581144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4594860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480560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Database   </a:t>
            </a:r>
            <a:r>
              <a:rPr sz="1100" b="0">
                <a:solidFill>
                  <a:srgbClr val="64748B"/>
                </a:solidFill>
                <a:latin typeface="Segoe UI"/>
              </a:rPr>
              <a:t>Supabase: persistent, RLS-secured, cascade FKs, hard-delete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5056632"/>
            <a:ext cx="9601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5070348"/>
            <a:ext cx="960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956048"/>
            <a:ext cx="9966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F35"/>
                </a:solidFill>
                <a:latin typeface="Segoe UI"/>
              </a:rPr>
              <a:t>Security   </a:t>
            </a:r>
            <a:r>
              <a:rPr sz="1100" b="0">
                <a:solidFill>
                  <a:srgbClr val="64748B"/>
                </a:solidFill>
                <a:latin typeface="Segoe UI"/>
              </a:rPr>
              <a:t>Admin-gated user create, rate limiting, JWT key, plan gating - all live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FFCC"/>
                </a:solidFill>
              </a:rPr>
              <a:t>EHR / EMR Integration —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</a:rPr>
              <a:t>A Day in the Life with Aria + Epic / Cerner / Athenahealth / eClinicalWorks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7899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Persona: Maria, 54 — returning patient at Sunrise Family Medicine (Epic EHR, Growth plan)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26464"/>
            <a:ext cx="11612880" cy="5278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64564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8:02 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464564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FCC"/>
                </a:solidFill>
              </a:rPr>
              <a:t>Maria texts the clinic SMS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70586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8C8"/>
                </a:solidFill>
              </a:rPr>
              <a:t>"Hi, I need to book a follow-up for my blood pressure. I was there last November."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79676"/>
            <a:ext cx="11612880" cy="5278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017776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8:02 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017776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FCC"/>
                </a:solidFill>
              </a:rPr>
              <a:t>Aria asks for name + date of birth to verify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25907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8C8"/>
                </a:solidFill>
              </a:rPr>
              <a:t>Aria: "Of course! May I have your full name and date of birth to pull up your file?"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32888"/>
            <a:ext cx="11612880" cy="527812"/>
          </a:xfrm>
          <a:prstGeom prst="rect">
            <a:avLst/>
          </a:prstGeom>
          <a:solidFill>
            <a:srgbClr val="05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57098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8:02 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57098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EHR Lookup  →  Aria calls prefill_intake_from_ehr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81228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8C8"/>
                </a:solidFill>
              </a:rPr>
              <a:t>Epic returns: Name ✓  |  DOB ✓  |  Phone ✓  |  Last visit: Nov 14 2025 (Annual Physical)  |  Primary: Dr. Patel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86100"/>
            <a:ext cx="11612880" cy="5278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124200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8:03 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124200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FCC"/>
                </a:solidFill>
              </a:rPr>
              <a:t>Aria skips all questions already on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36550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8C8"/>
                </a:solidFill>
              </a:rPr>
              <a:t>Aria: "I have your details on file. Shall I book you with Dr. Patel for a follow-up?" — zero form filling.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39312"/>
            <a:ext cx="11612880" cy="527812"/>
          </a:xfrm>
          <a:prstGeom prst="rect">
            <a:avLst/>
          </a:prstGeom>
          <a:solidFill>
            <a:srgbClr val="05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67741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8:03 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677412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Live Slots  →  Aria calls get_available_slots_from_ehr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9187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8C8"/>
                </a:solidFill>
              </a:rPr>
              <a:t>Epic returns 4 live open slots for Dr. Patel this week. Aria presents them in plain English.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192524"/>
            <a:ext cx="11612880" cy="5278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230624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8:04 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230624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FCC"/>
                </a:solidFill>
              </a:rPr>
              <a:t>Maria picks Thursday 10:30 AM — Aria books &amp; syncs to Epic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447192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8C8"/>
                </a:solidFill>
              </a:rPr>
              <a:t>FHIR Appointment resource created in Epic. Conflict-checked before booking. Conf #AP-2847.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745736"/>
            <a:ext cx="11612880" cy="527812"/>
          </a:xfrm>
          <a:prstGeom prst="rect">
            <a:avLst/>
          </a:prstGeom>
          <a:solidFill>
            <a:srgbClr val="05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783836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8:04 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783836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</a:rPr>
              <a:t>[Enterprise] Note sync  →  Aria calls sync_note_to_ehr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0251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8C8"/>
                </a:solidFill>
              </a:rPr>
              <a:t>Encounter summary posted to Epic as a FHIR DocumentReference (LOINC 11488-4). Audit log written.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298948"/>
            <a:ext cx="11612880" cy="527812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33704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8:04 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533704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FCC"/>
                </a:solidFill>
              </a:rPr>
              <a:t>Maria receives SMS confirmation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55783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B8C8"/>
                </a:solidFill>
              </a:rPr>
              <a:t>Aria: "You're booked! Thursday June 30 at 10:30 AM with Dr. Patel. See you then!"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902960"/>
            <a:ext cx="11612880" cy="347472"/>
          </a:xfrm>
          <a:prstGeom prst="rect">
            <a:avLst/>
          </a:prstGeom>
          <a:solidFill>
            <a:srgbClr val="052E1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5376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0B981"/>
                </a:solidFill>
              </a:rPr>
              <a:t>Outcome: 2-minute SMS vs 8-minute phone call.  Zero staff involved.  EHR updated automatically.  Patient delighted.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FFCC"/>
                </a:solidFill>
              </a:rPr>
              <a:t>EHR / EMR Integration — Feature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</a:rPr>
              <a:t>Phases 1-4 complete and live on production  |  64 automated tests passing  |  HIPAA-compliant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789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078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FFCC"/>
                </a:solidFill>
              </a:rPr>
              <a:t>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96128" y="1078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</a:rPr>
              <a:t>Pro (Enterprise)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07899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8C8"/>
                </a:solidFill>
              </a:rPr>
              <a:t>EHR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0789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8C8"/>
                </a:solidFill>
              </a:rPr>
              <a:t>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078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371600"/>
            <a:ext cx="11612880" cy="1524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417320"/>
            <a:ext cx="11612880" cy="327355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442720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Appointment sync to EHR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44272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0992" y="144272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442720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Epic · Cerner · Athena · eCW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442720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B8C8"/>
                </a:solidFill>
              </a:rPr>
              <a:t>Ph1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442720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744675"/>
            <a:ext cx="11612880" cy="327355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770075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Patient lookup (name + DOB)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177007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0992" y="177007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770075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Epic · Cerner · Athena · eCW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1770075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B8C8"/>
                </a:solidFill>
              </a:rPr>
              <a:t>Ph1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1770075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072030"/>
            <a:ext cx="11612880" cy="327355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097430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Live slot availability from EHR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09743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0992" y="209743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097430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Epic · Cerner · Athena · eCW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097430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B8C8"/>
                </a:solidFill>
              </a:rPr>
              <a:t>Ph1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097430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399385"/>
            <a:ext cx="11612880" cy="327355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424785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24h patient cache (emr_patients)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242478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242478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2424785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424785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B8C8"/>
                </a:solidFill>
              </a:rPr>
              <a:t>Ph1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2424785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726740"/>
            <a:ext cx="11612880" cy="327355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752140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HIPAA audit trail (emr_sync_log)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24528" y="275214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50992" y="275214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2752140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2752140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B8C8"/>
                </a:solidFill>
              </a:rPr>
              <a:t>Ph1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2752140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054095"/>
            <a:ext cx="11612880" cy="327355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3079495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Intake pre-population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24528" y="307949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50992" y="307949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3079495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Epic · Cerner · Athena · eCW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079495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B8C8"/>
                </a:solidFill>
              </a:rPr>
              <a:t>Ph2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3079495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381450"/>
            <a:ext cx="11612880" cy="327355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3406850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Cerner FHIR R4 adapter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40685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0992" y="340685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3406850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Cerner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3406850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B8C8"/>
                </a:solidFill>
              </a:rPr>
              <a:t>Ph2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3406850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3708805"/>
            <a:ext cx="11612880" cy="327355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3734205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Athenahealth REST adapter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24528" y="373420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50992" y="373420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0880" y="3734205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Athenahealth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3734205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B8C8"/>
                </a:solidFill>
              </a:rPr>
              <a:t>Ph2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92640" y="3734205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4036160"/>
            <a:ext cx="11612880" cy="327355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4061560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Auto-route slots (EHR → Aria)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24528" y="406156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50992" y="406156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40880" y="4061560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03920" y="4061560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</a:rPr>
              <a:t>Ph3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92640" y="4061560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4363515"/>
            <a:ext cx="11612880" cy="327355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388915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Appointment type resolver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24528" y="438891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50992" y="438891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40880" y="4388915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Epic · Athena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0" y="4388915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</a:rPr>
              <a:t>Ph3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92640" y="4388915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4690870"/>
            <a:ext cx="11612880" cy="327355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80" y="4716270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Slot conflict detection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24528" y="471627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50992" y="471627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40880" y="4716270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03920" y="4716270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</a:rPr>
              <a:t>Ph3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92640" y="4716270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5018225"/>
            <a:ext cx="11612880" cy="327355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5043625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Provider NPI filtering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24528" y="504362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50992" y="504362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40880" y="5043625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03920" y="5043625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</a:rPr>
              <a:t>Ph3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92640" y="5043625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5345580"/>
            <a:ext cx="11612880" cy="327355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1480" y="5370980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EHR awareness in Aria prompt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224528" y="537098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50992" y="537098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40880" y="5370980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03920" y="5370980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</a:rPr>
              <a:t>Ph3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92640" y="5370980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0040" y="5672935"/>
            <a:ext cx="11612880" cy="327355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11480" y="5698335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Chart read (diagnoses/meds/allergies)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24528" y="569833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0B8C8"/>
                </a:solidFill>
              </a:rPr>
              <a:t>–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50992" y="569833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40880" y="5698335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Epic · Cerner · Athena · eCW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03920" y="5698335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FFCC"/>
                </a:solidFill>
              </a:rPr>
              <a:t>Ph4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92640" y="5698335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  [Enterprise]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20040" y="6000290"/>
            <a:ext cx="11612880" cy="327355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1480" y="6025690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Note sync (conversation → EHR doc)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24528" y="602569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0B8C8"/>
                </a:solidFill>
              </a:rPr>
              <a:t>–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50992" y="602569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40880" y="6025690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Epic · Cerner · Athena · eCW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503920" y="6025690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FFCC"/>
                </a:solidFill>
              </a:rPr>
              <a:t>Ph4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692640" y="6025690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  [Enterprise]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0040" y="6327645"/>
            <a:ext cx="11612880" cy="327355"/>
          </a:xfrm>
          <a:prstGeom prst="rect">
            <a:avLst/>
          </a:prstGeom>
          <a:solidFill>
            <a:srgbClr val="06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11480" y="6353045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eClinicalWorks (eCW) adapter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4528" y="635304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0B8C8"/>
                </a:solidFill>
              </a:rPr>
              <a:t>–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650992" y="6353045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40880" y="6353045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eClinicalWorks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03920" y="6353045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FFCC"/>
                </a:solidFill>
              </a:rPr>
              <a:t>Ph4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692640" y="6353045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  [Enterprise]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6655000"/>
            <a:ext cx="11612880" cy="327355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11480" y="6680400"/>
            <a:ext cx="36576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1h chart cache (emr_chart_summaries)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4528" y="668040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0B8C8"/>
                </a:solidFill>
              </a:rPr>
              <a:t>–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50992" y="6680400"/>
            <a:ext cx="123444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040880" y="6680400"/>
            <a:ext cx="1389888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All 4 EHRs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503920" y="6680400"/>
            <a:ext cx="109728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FFCC"/>
                </a:solidFill>
              </a:rPr>
              <a:t>Ph4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92640" y="6680400"/>
            <a:ext cx="2286000" cy="32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B981"/>
                </a:solidFill>
              </a:rPr>
              <a:t>LIVE  [Enterprise]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0040" y="699516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0B8C8"/>
                </a:solidFill>
              </a:rPr>
              <a:t>All 4 EHRs = Epic (FHIR R4) · Cerner (FHIR R4) · Athenahealth (REST) · eClinicalWorks (FHIR R4)   |   HIPAA: minimum-necessary data only, all PHI cached with TTL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